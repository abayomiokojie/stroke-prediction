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1"/>
    <p:restoredTop sz="94105"/>
  </p:normalViewPr>
  <p:slideViewPr>
    <p:cSldViewPr snapToGrid="0">
      <p:cViewPr varScale="1">
        <p:scale>
          <a:sx n="65" d="100"/>
          <a:sy n="65" d="100"/>
        </p:scale>
        <p:origin x="22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4BDD6-8B54-1D43-9B29-7BFF89FE46CD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BD251-686E-D945-9DF0-64D73D31AD8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2431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x-none" dirty="0"/>
              <a:t>Lindsay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71019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x-none"/>
              <a:t>Mariluz</a:t>
            </a:r>
            <a:r>
              <a:rPr lang="x-none" dirty="0"/>
              <a:t>: Imbalance, </a:t>
            </a:r>
            <a:r>
              <a:rPr lang="x-none"/>
              <a:t>Confunding factors</a:t>
            </a:r>
            <a:endParaRPr lang="es-419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/>
              <a:t>Linday: Lack of context, missing data, variability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6665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x-none" dirty="0"/>
              <a:t>Mariluz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70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Lindsay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6404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x-none" dirty="0"/>
              <a:t>Mariluz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0480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x-none" dirty="0"/>
              <a:t>Mariluz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52731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x-none"/>
              <a:t>Lin</a:t>
            </a:r>
            <a:r>
              <a:rPr lang="es-419" dirty="0"/>
              <a:t>d</a:t>
            </a:r>
            <a:r>
              <a:rPr lang="x-none"/>
              <a:t>say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BD251-686E-D945-9DF0-64D73D31AD82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85995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C55F-18F6-0D8C-9B96-974DF0900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3A04F-53EF-718F-0894-C7D69F7D5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AD7D7-7A86-8317-0130-53E4263D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E9C0C-EBEF-A5BB-8130-E17D8B9C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2D072-E314-D2BB-42EA-C92DD1D6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7635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0660-CF1D-0D9B-5725-C3F1B135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D47A-B9C6-355D-AD7E-E73CAD37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8AFD-A4BC-CDB1-CD00-37824502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3A31-6AF3-3D26-CC83-1D52D39E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9CA83-E23E-E58D-CB46-63425C12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54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6E42-1440-7F93-8A99-AA253FE5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B190F-1CFA-2496-17AE-57A19A61D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3E4F9-D136-A0F4-5B88-6339A3D0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0E1E-FCE4-7E48-1994-691A71B1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6DC32-4E0D-4F14-0FA0-65E48C7C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0445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CE43-8E64-9CE4-2FA6-B8D918A5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8D6D-0DB7-17F7-526D-C5318F20B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BDBD4-91F1-4367-A277-194B47BF0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64F8F-B745-9F10-FF0D-F39C56FC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F9938-5C22-E7AE-08ED-12D195F7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3461-7F4B-9521-2CEF-F38E7454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5774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0EA-9E7E-AB19-3556-EB00CAAC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3FBC6-47E4-FA35-BCE1-F7348C1B8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B5959-BC88-DAC5-27EF-30F2C1D2E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792FF-5536-671C-9486-1C9D6F13F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FAA89-B348-8A6D-3DE8-368C62662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C224E-BD3E-50A2-2313-F1478555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CCDC00-1E8A-4F02-090C-F4BAC37E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00F59-E377-8A72-2136-48715A2F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6768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FFFC-6BFB-440A-E98C-D0BF7EF7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172BF-7CCE-D1A9-815F-534B9065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DD507-E8BC-1351-9F4F-9B693FC0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2F7BE-D910-8F20-45E9-261B1D77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3655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B8DCF-D7AF-D431-CBC9-2A599872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EB863-C00B-EF4D-27CB-0C7BD1D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DFB56-D11C-68CB-98D1-105109F6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5792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54DA-D8DA-55C6-C39E-8E0E3411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74817-5D20-8181-B56D-42FFC302C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52CF3-A3D5-0E9A-8E83-E54E79A18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82CD-76A3-5AEF-F290-0F254ED9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D3A6F-5194-0468-78A6-1EF5A835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3D664-A377-DDD5-48B5-A6C9BC62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2582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B23D-3E1D-219A-30BD-6CF4A4E9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89E69-2A09-2987-B0C6-FE1BF194A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CC987-79CB-2331-7EF2-D09C9619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3EF66-2F97-58B7-A582-F27C821E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47B8F-3D39-5A16-FBF5-75AFC06D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51B1F-8FE2-1E74-94AA-BF2B054F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0680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9DC4-3B6C-44DA-5CE4-8A2A74D7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E5F03-A2B6-1EEA-ADFE-3041ACF41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62C6E-4C94-0A32-1533-0211F073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BE004-3671-7810-F95A-CD8C614C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1648-8E3C-9D7B-AC86-7EEB5F03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060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77FAF-A1C8-E180-539F-93669FEC2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352C4-DEB7-9DE5-2FDA-5439BB442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2F31C-9955-EC4C-BAC5-BC3677A1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4911B-B8EC-85CA-1169-33F3D3C6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1FE2-53CA-80C7-2181-9A96BAF1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995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8AABB-7189-016F-7997-63A340AA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38373-5CEB-3DFC-E984-83B4F01E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41879-6566-AF53-B3DF-8F6C48787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8F95E-67AE-0945-83C2-BF4ED4EB9327}" type="datetimeFigureOut">
              <a:rPr lang="x-none" smtClean="0"/>
              <a:t>14/11/25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B52A1-344B-82A3-FC14-C2E1FDE9F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ABE8B-0E81-7970-10BC-C88090C8A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FF1FE-E604-1745-BAD9-7FC0375355D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0913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18092-DAB1-2A5B-FD4F-C8BCD717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i="1" dirty="0"/>
              <a:t>Stroke Risk Stratification: Identifying Vulnerable Individuals Through Data Visualization</a:t>
            </a:r>
            <a:endParaRPr lang="x-none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29C57-E585-14C3-E99A-CDA8146E2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 fontAlgn="base"/>
            <a:r>
              <a:rPr lang="en-US" sz="1700" b="1" i="1" dirty="0"/>
              <a:t>Joshua </a:t>
            </a:r>
            <a:r>
              <a:rPr lang="en-US" sz="1700" b="1" i="1" dirty="0" err="1"/>
              <a:t>Okojie</a:t>
            </a:r>
            <a:endParaRPr lang="en-US" sz="1700" b="1" i="1" dirty="0"/>
          </a:p>
          <a:p>
            <a:pPr algn="l" fontAlgn="base"/>
            <a:r>
              <a:rPr lang="en-US" sz="1700" b="1" i="1" dirty="0"/>
              <a:t>Lindsay Hudson</a:t>
            </a:r>
          </a:p>
          <a:p>
            <a:pPr algn="l" fontAlgn="base"/>
            <a:r>
              <a:rPr lang="en-US" sz="1700" b="1" i="1" dirty="0" err="1"/>
              <a:t>Mariluz</a:t>
            </a:r>
            <a:r>
              <a:rPr lang="en-US" sz="1700" b="1" i="1" dirty="0"/>
              <a:t> Lopez Zamora</a:t>
            </a:r>
          </a:p>
          <a:p>
            <a:pPr algn="l"/>
            <a:endParaRPr lang="x-none" sz="17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55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5578F-3081-F23B-08C9-D4C70086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x-none" sz="5400" dirty="0"/>
              <a:t>Objectives: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50D7-8013-0D7C-7727-9A8E8AE29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011402" cy="3547872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2200" dirty="0"/>
              <a:t> Analyze and visualize the stroke prediction dataset.</a:t>
            </a:r>
          </a:p>
          <a:p>
            <a:pPr>
              <a:lnSpc>
                <a:spcPct val="160000"/>
              </a:lnSpc>
            </a:pPr>
            <a:r>
              <a:rPr lang="en-US" sz="2200" dirty="0"/>
              <a:t> Develop a target model identifying individuals most at risk of suffering a stroke. </a:t>
            </a:r>
          </a:p>
          <a:p>
            <a:pPr>
              <a:lnSpc>
                <a:spcPct val="160000"/>
              </a:lnSpc>
            </a:pPr>
            <a:r>
              <a:rPr lang="en-US" sz="2200" dirty="0"/>
              <a:t>Support: preventive measures and public health campaigns.</a:t>
            </a:r>
            <a:endParaRPr lang="x-none" sz="2200" dirty="0"/>
          </a:p>
        </p:txBody>
      </p:sp>
      <p:pic>
        <p:nvPicPr>
          <p:cNvPr id="5" name="Picture 4" descr="A graph showing a stroke&#10;&#10;AI-generated content may be incorrect.">
            <a:extLst>
              <a:ext uri="{FF2B5EF4-FFF2-40B4-BE49-F238E27FC236}">
                <a16:creationId xmlns:a16="http://schemas.microsoft.com/office/drawing/2014/main" id="{9844F25A-3918-FCF5-9852-E03B8B9D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274" y="1484241"/>
            <a:ext cx="6284742" cy="447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9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A24CA-0F53-C999-6456-876403AA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/>
              <a:t>Problems with the Data:</a:t>
            </a:r>
            <a:endParaRPr lang="x-none" sz="5400"/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87BDB-D03B-4010-E22E-90996BB19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fontAlgn="base"/>
            <a:r>
              <a:rPr lang="en-US" sz="1500"/>
              <a:t>Imbalance</a:t>
            </a:r>
          </a:p>
          <a:p>
            <a:pPr fontAlgn="base"/>
            <a:r>
              <a:rPr lang="en-US" sz="1500"/>
              <a:t>Confounding factors: pediatric population</a:t>
            </a:r>
          </a:p>
          <a:p>
            <a:pPr marL="0" indent="0" fontAlgn="base">
              <a:buNone/>
            </a:pPr>
            <a:endParaRPr lang="x-none" sz="1500"/>
          </a:p>
          <a:p>
            <a:pPr fontAlgn="base"/>
            <a:r>
              <a:rPr lang="x-none" sz="1500"/>
              <a:t>Lack of context related with data collection method</a:t>
            </a:r>
          </a:p>
          <a:p>
            <a:pPr fontAlgn="base"/>
            <a:r>
              <a:rPr lang="en-US" sz="1500"/>
              <a:t>Variability:  Age, BMI, and Average Glucose Levels</a:t>
            </a:r>
          </a:p>
          <a:p>
            <a:pPr lvl="1" fontAlgn="base"/>
            <a:r>
              <a:rPr lang="en-US" sz="1500"/>
              <a:t>ADA Classification</a:t>
            </a:r>
          </a:p>
          <a:p>
            <a:pPr lvl="1" fontAlgn="base"/>
            <a:r>
              <a:rPr lang="en-US" sz="1500"/>
              <a:t>CDC BMI Classification</a:t>
            </a:r>
          </a:p>
          <a:p>
            <a:pPr lvl="1" fontAlgn="base"/>
            <a:r>
              <a:rPr lang="en-US" sz="1500"/>
              <a:t>Canadian Age Classification</a:t>
            </a:r>
            <a:endParaRPr lang="en-US" sz="1500" b="1"/>
          </a:p>
          <a:p>
            <a:pPr fontAlgn="base"/>
            <a:r>
              <a:rPr lang="en-US" sz="1500"/>
              <a:t>Missing Data:</a:t>
            </a:r>
          </a:p>
          <a:p>
            <a:pPr lvl="1" fontAlgn="base"/>
            <a:r>
              <a:rPr lang="en-US" sz="1500"/>
              <a:t>BMI: NaN values</a:t>
            </a:r>
          </a:p>
          <a:p>
            <a:pPr lvl="1" fontAlgn="base"/>
            <a:r>
              <a:rPr lang="en-US" sz="1500"/>
              <a:t>Smoking status: Unknown </a:t>
            </a:r>
          </a:p>
        </p:txBody>
      </p:sp>
      <p:pic>
        <p:nvPicPr>
          <p:cNvPr id="5" name="Picture 4" descr="A graph showing a number of patients&#10;&#10;AI-generated content may be incorrect.">
            <a:extLst>
              <a:ext uri="{FF2B5EF4-FFF2-40B4-BE49-F238E27FC236}">
                <a16:creationId xmlns:a16="http://schemas.microsoft.com/office/drawing/2014/main" id="{032EAFCC-5B66-EA4C-BB31-C7E40911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5" y="318167"/>
            <a:ext cx="5245436" cy="3501331"/>
          </a:xfrm>
          <a:prstGeom prst="rect">
            <a:avLst/>
          </a:prstGeom>
        </p:spPr>
      </p:pic>
      <p:pic>
        <p:nvPicPr>
          <p:cNvPr id="7" name="Picture 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EA41FE1F-E3FF-32F5-615F-53A852BFF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89" y="3819498"/>
            <a:ext cx="4799931" cy="287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7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CA320-593D-9BE6-1076-38987785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/>
              <a:t>Feature Selection:</a:t>
            </a:r>
            <a:endParaRPr lang="x-none" sz="54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71B1-306B-A015-0B09-E4159CCB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sz="1800" dirty="0"/>
              <a:t>Excluded Features (Not significant, p-value &gt; 0.5):</a:t>
            </a:r>
          </a:p>
          <a:p>
            <a:pPr lvl="1" fontAlgn="base"/>
            <a:r>
              <a:rPr lang="en-US" sz="1800" dirty="0"/>
              <a:t>Gender</a:t>
            </a:r>
          </a:p>
          <a:p>
            <a:pPr lvl="1" fontAlgn="base"/>
            <a:r>
              <a:rPr lang="en-US" sz="1800" dirty="0"/>
              <a:t>Marital Status (adjusted for age)</a:t>
            </a:r>
          </a:p>
          <a:p>
            <a:pPr lvl="1" fontAlgn="base"/>
            <a:r>
              <a:rPr lang="en-US" sz="1800" dirty="0"/>
              <a:t>Residence Type</a:t>
            </a:r>
            <a:br>
              <a:rPr lang="en-US" sz="1800" dirty="0"/>
            </a:br>
            <a:endParaRPr lang="en-US" sz="1800" dirty="0"/>
          </a:p>
          <a:p>
            <a:pPr fontAlgn="base"/>
            <a:r>
              <a:rPr lang="en-US" sz="1800" dirty="0"/>
              <a:t>Included Features (Significant, p-value &lt; 0.5):</a:t>
            </a:r>
          </a:p>
          <a:p>
            <a:pPr lvl="1" fontAlgn="base"/>
            <a:r>
              <a:rPr lang="en-US" sz="1800" dirty="0"/>
              <a:t>Age</a:t>
            </a:r>
          </a:p>
          <a:p>
            <a:pPr lvl="1" fontAlgn="base"/>
            <a:r>
              <a:rPr lang="en-US" sz="1800" dirty="0"/>
              <a:t>Work Type</a:t>
            </a:r>
          </a:p>
          <a:p>
            <a:pPr lvl="1" fontAlgn="base"/>
            <a:r>
              <a:rPr lang="en-US" sz="1800" dirty="0"/>
              <a:t>Smoking Status</a:t>
            </a:r>
          </a:p>
          <a:p>
            <a:pPr lvl="1" fontAlgn="base"/>
            <a:r>
              <a:rPr lang="en-US" sz="1800" dirty="0"/>
              <a:t>Glucose Level</a:t>
            </a:r>
          </a:p>
          <a:p>
            <a:pPr lvl="1" fontAlgn="base"/>
            <a:r>
              <a:rPr lang="en-US" sz="1800" dirty="0"/>
              <a:t>BMI</a:t>
            </a:r>
          </a:p>
          <a:p>
            <a:pPr lvl="1" fontAlgn="base"/>
            <a:r>
              <a:rPr lang="en-US" sz="1800" dirty="0"/>
              <a:t>Hypertension</a:t>
            </a:r>
          </a:p>
          <a:p>
            <a:pPr lvl="1" fontAlgn="base"/>
            <a:r>
              <a:rPr lang="en-US" sz="1800" dirty="0"/>
              <a:t>Heart Disease</a:t>
            </a:r>
          </a:p>
        </p:txBody>
      </p:sp>
      <p:pic>
        <p:nvPicPr>
          <p:cNvPr id="5" name="Picture 4" descr="A diagram of a patient's heart disease&#10;&#10;AI-generated content may be incorrect.">
            <a:extLst>
              <a:ext uri="{FF2B5EF4-FFF2-40B4-BE49-F238E27FC236}">
                <a16:creationId xmlns:a16="http://schemas.microsoft.com/office/drawing/2014/main" id="{6A3CD9DF-08B5-BA22-CC2F-CD1F0F095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621" y="262303"/>
            <a:ext cx="4504806" cy="3637632"/>
          </a:xfrm>
          <a:prstGeom prst="rect">
            <a:avLst/>
          </a:prstGeom>
        </p:spPr>
      </p:pic>
      <p:pic>
        <p:nvPicPr>
          <p:cNvPr id="7" name="Picture 6" descr="A graph with red and white stripes&#10;&#10;AI-generated content may be incorrect.">
            <a:extLst>
              <a:ext uri="{FF2B5EF4-FFF2-40B4-BE49-F238E27FC236}">
                <a16:creationId xmlns:a16="http://schemas.microsoft.com/office/drawing/2014/main" id="{BB8E7E4F-1C0E-A4CE-9B5F-D47303E40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205" y="4224529"/>
            <a:ext cx="7131327" cy="237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3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6219-792B-FAB2-A6B9-6072A766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1430"/>
            <a:ext cx="10515600" cy="1325563"/>
          </a:xfrm>
        </p:spPr>
        <p:txBody>
          <a:bodyPr/>
          <a:lstStyle/>
          <a:p>
            <a:r>
              <a:rPr lang="en-US" b="1" dirty="0"/>
              <a:t>Model</a:t>
            </a:r>
            <a:endParaRPr lang="x-none" dirty="0"/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C5570F6E-353C-6381-3046-1216D8D5F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66916" y="781562"/>
            <a:ext cx="6527141" cy="5811838"/>
          </a:xfrm>
        </p:spPr>
      </p:pic>
      <p:sp>
        <p:nvSpPr>
          <p:cNvPr id="4" name="TextBox 3"/>
          <p:cNvSpPr txBox="1"/>
          <p:nvPr/>
        </p:nvSpPr>
        <p:spPr>
          <a:xfrm>
            <a:off x="291905" y="1179054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63220" y="1179054"/>
            <a:ext cx="500575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Recall is consistently around 0.80, the model captures most true positives.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Precision is lower at 0.71, which suggests some false positives.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F1 score is about 0.75, relatively balanced but skews towards recall. This is good in healthcare setting.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Accuracy is around 0.74, fairly good.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Overall, the model is strong at finding positives, but there is a trade‑off with precision.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healthcare, being transparent about the range is critical and can build trust — stakeholders want to see variability.</a:t>
            </a:r>
          </a:p>
        </p:txBody>
      </p:sp>
    </p:spTree>
    <p:extLst>
      <p:ext uri="{BB962C8B-B14F-4D97-AF65-F5344CB8AC3E}">
        <p14:creationId xmlns:p14="http://schemas.microsoft.com/office/powerpoint/2010/main" val="142011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A656F-8080-D48A-160D-DA40662CD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x-none" sz="5400"/>
              <a:t>Team Specific Recomendations</a:t>
            </a: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C33C5-4D1A-87D9-8091-27FD3E251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4399557" cy="4305786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x-none" sz="2000"/>
              <a:t>The target population is:</a:t>
            </a:r>
          </a:p>
          <a:p>
            <a:pPr lvl="1">
              <a:lnSpc>
                <a:spcPct val="150000"/>
              </a:lnSpc>
            </a:pPr>
            <a:r>
              <a:rPr lang="x-none" sz="2000"/>
              <a:t>Individuals over 57 years old, with comorbidities as heard disease, hta,</a:t>
            </a:r>
            <a:r>
              <a:rPr lang="es-419" sz="2000" dirty="0"/>
              <a:t> </a:t>
            </a:r>
            <a:r>
              <a:rPr lang="x-none" sz="2000"/>
              <a:t>and pre-DM or DM . </a:t>
            </a:r>
            <a:r>
              <a:rPr lang="en-US" sz="2000" dirty="0"/>
              <a:t>A</a:t>
            </a:r>
            <a:r>
              <a:rPr lang="x-none" sz="2000"/>
              <a:t>nd Risk factors as overweight</a:t>
            </a:r>
            <a:r>
              <a:rPr lang="es-419" sz="2000" dirty="0"/>
              <a:t>,</a:t>
            </a:r>
            <a:r>
              <a:rPr lang="x-none" sz="2000"/>
              <a:t> formerly smoked</a:t>
            </a:r>
            <a:r>
              <a:rPr lang="es-419" sz="2000" dirty="0"/>
              <a:t>  or smokes</a:t>
            </a:r>
            <a:r>
              <a:rPr lang="x-none" sz="2000"/>
              <a:t>.</a:t>
            </a:r>
          </a:p>
          <a:p>
            <a:pPr lvl="1">
              <a:lnSpc>
                <a:spcPct val="150000"/>
              </a:lnSpc>
            </a:pPr>
            <a:r>
              <a:rPr lang="x-none" sz="2000"/>
              <a:t>The analyst suggest healthy weight, healthy glucose average , and never smoke as protective factors.</a:t>
            </a:r>
          </a:p>
        </p:txBody>
      </p:sp>
      <p:pic>
        <p:nvPicPr>
          <p:cNvPr id="5" name="Picture 4" descr="A graph showing different colored circles&#10;&#10;AI-generated content may be incorrect.">
            <a:extLst>
              <a:ext uri="{FF2B5EF4-FFF2-40B4-BE49-F238E27FC236}">
                <a16:creationId xmlns:a16="http://schemas.microsoft.com/office/drawing/2014/main" id="{2AE301AA-8B28-CBCC-ADAE-115819468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681" r="37330" b="-304"/>
          <a:stretch>
            <a:fillRect/>
          </a:stretch>
        </p:blipFill>
        <p:spPr>
          <a:xfrm>
            <a:off x="5544543" y="2093976"/>
            <a:ext cx="6458567" cy="421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5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CF1ED-CB41-81B4-3BA4-C7FE869D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b="1"/>
              <a:t>Key Data Insights:</a:t>
            </a:r>
            <a:endParaRPr lang="x-none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0440-F9A3-4AAD-D8F9-D3C67373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7"/>
            <a:ext cx="3631971" cy="3672765"/>
          </a:xfrm>
        </p:spPr>
        <p:txBody>
          <a:bodyPr anchor="t">
            <a:normAutofit/>
          </a:bodyPr>
          <a:lstStyle/>
          <a:p>
            <a:pPr fontAlgn="base">
              <a:lnSpc>
                <a:spcPct val="150000"/>
              </a:lnSpc>
            </a:pPr>
            <a:r>
              <a:rPr lang="en-US" sz="1800" dirty="0"/>
              <a:t>Proper categorization of the dataset : The Key in analysis and model development.</a:t>
            </a:r>
          </a:p>
          <a:p>
            <a:pPr fontAlgn="base">
              <a:lnSpc>
                <a:spcPct val="150000"/>
              </a:lnSpc>
            </a:pPr>
            <a:r>
              <a:rPr lang="en-US" sz="1800" dirty="0"/>
              <a:t>Health data analysis: healthy individuals vs disease group</a:t>
            </a:r>
          </a:p>
          <a:p>
            <a:pPr fontAlgn="base">
              <a:lnSpc>
                <a:spcPct val="150000"/>
              </a:lnSpc>
            </a:pPr>
            <a:r>
              <a:rPr lang="en-US" sz="1800" dirty="0"/>
              <a:t>Correlation is not causation: protective and risk factors can emerge.</a:t>
            </a:r>
          </a:p>
        </p:txBody>
      </p:sp>
      <p:pic>
        <p:nvPicPr>
          <p:cNvPr id="5" name="Picture 4" descr="A graph showing blood sugar levels&#10;&#10;AI-generated content may be incorrect.">
            <a:extLst>
              <a:ext uri="{FF2B5EF4-FFF2-40B4-BE49-F238E27FC236}">
                <a16:creationId xmlns:a16="http://schemas.microsoft.com/office/drawing/2014/main" id="{E27E31FB-A0E8-F350-F094-03D5212EC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746" y="216836"/>
            <a:ext cx="6588383" cy="3047127"/>
          </a:xfrm>
          <a:prstGeom prst="rect">
            <a:avLst/>
          </a:prstGeom>
        </p:spPr>
      </p:pic>
      <p:pic>
        <p:nvPicPr>
          <p:cNvPr id="7" name="Picture 6" descr="A graph with red bars&#10;&#10;AI-generated content may be incorrect.">
            <a:extLst>
              <a:ext uri="{FF2B5EF4-FFF2-40B4-BE49-F238E27FC236}">
                <a16:creationId xmlns:a16="http://schemas.microsoft.com/office/drawing/2014/main" id="{21F61FB1-4161-28AE-248D-4CE11D5C1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841" y="3494569"/>
            <a:ext cx="6817623" cy="314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0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3860F-1218-248F-AC0C-A6E387616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Conclusion &amp; Next Steps</a:t>
            </a:r>
            <a:endParaRPr lang="x-none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A3F9-244E-A961-6207-212B5B05D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r>
              <a:rPr lang="en-GB" sz="2200" dirty="0">
                <a:latin typeface="Lato"/>
                <a:ea typeface="Lato"/>
                <a:cs typeface="Lato"/>
                <a:sym typeface="Lato"/>
              </a:rPr>
              <a:t>Feature selection was the key in our data-driven approach to make an accurate model. </a:t>
            </a:r>
          </a:p>
          <a:p>
            <a:endParaRPr lang="en-GB" sz="2200" dirty="0">
              <a:latin typeface="Lato"/>
              <a:ea typeface="Lato"/>
              <a:cs typeface="Lato"/>
              <a:sym typeface="Lato"/>
            </a:endParaRPr>
          </a:p>
          <a:p>
            <a:r>
              <a:rPr lang="en-GB" sz="2200" dirty="0">
                <a:latin typeface="Lato"/>
                <a:ea typeface="Lato"/>
                <a:cs typeface="Lato"/>
                <a:sym typeface="Lato"/>
              </a:rPr>
              <a:t> Our next steps in refining our model would be:</a:t>
            </a:r>
          </a:p>
          <a:p>
            <a:endParaRPr lang="en-GB" sz="2200" dirty="0">
              <a:latin typeface="Lato"/>
              <a:ea typeface="Lato"/>
              <a:cs typeface="Lato"/>
              <a:sym typeface="Lato"/>
            </a:endParaRPr>
          </a:p>
          <a:p>
            <a:pPr lvl="1"/>
            <a:r>
              <a:rPr lang="en-GB" sz="2200" dirty="0">
                <a:latin typeface="Lato"/>
                <a:ea typeface="Lato"/>
                <a:cs typeface="Lato"/>
                <a:sym typeface="Lato"/>
              </a:rPr>
              <a:t>Apply a larger stroke population dataset combined with greater data collection context, and additional relevant features.</a:t>
            </a:r>
          </a:p>
          <a:p>
            <a:pPr lvl="1"/>
            <a:endParaRPr lang="en-GB" sz="2200" dirty="0">
              <a:latin typeface="Lato"/>
              <a:ea typeface="Lato"/>
              <a:cs typeface="Lato"/>
              <a:sym typeface="Lato"/>
            </a:endParaRPr>
          </a:p>
          <a:p>
            <a:pPr lvl="1"/>
            <a:r>
              <a:rPr lang="en-GB" sz="2200" dirty="0">
                <a:latin typeface="Lato"/>
                <a:ea typeface="Lato"/>
                <a:cs typeface="Lato"/>
                <a:sym typeface="Lato"/>
              </a:rPr>
              <a:t>Leverage SHAP analysis to understand what is driving predictions.</a:t>
            </a:r>
          </a:p>
          <a:p>
            <a:pPr lvl="1"/>
            <a:endParaRPr lang="en-GB" sz="2200" dirty="0">
              <a:latin typeface="Lato"/>
              <a:ea typeface="Lato"/>
              <a:cs typeface="Lato"/>
              <a:sym typeface="Lato"/>
            </a:endParaRPr>
          </a:p>
          <a:p>
            <a:pPr lvl="1"/>
            <a:r>
              <a:rPr lang="en-GB" sz="2200" dirty="0">
                <a:latin typeface="Lato"/>
                <a:ea typeface="Lato"/>
                <a:cs typeface="Lato"/>
                <a:sym typeface="Lato"/>
              </a:rPr>
              <a:t>Consider tracking performance across various demographic segmentations and audit model for potential biases.</a:t>
            </a:r>
          </a:p>
          <a:p>
            <a:pPr lvl="1"/>
            <a:endParaRPr lang="en-GB" sz="2200" dirty="0">
              <a:latin typeface="Lato"/>
              <a:ea typeface="Lato"/>
              <a:cs typeface="Lato"/>
              <a:sym typeface="Lato"/>
            </a:endParaRPr>
          </a:p>
          <a:p>
            <a:pPr lvl="1"/>
            <a:r>
              <a:rPr lang="en-GB" sz="2200" dirty="0">
                <a:latin typeface="Lato"/>
                <a:ea typeface="Lato"/>
                <a:cs typeface="Lato"/>
                <a:sym typeface="Lato"/>
              </a:rPr>
              <a:t>Validate the model on external clinical stroke datasets.</a:t>
            </a:r>
          </a:p>
        </p:txBody>
      </p:sp>
    </p:spTree>
    <p:extLst>
      <p:ext uri="{BB962C8B-B14F-4D97-AF65-F5344CB8AC3E}">
        <p14:creationId xmlns:p14="http://schemas.microsoft.com/office/powerpoint/2010/main" val="130395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ADD17-A482-64F3-1CD7-EB835A47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x-none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E887A-7471-DF5C-CF9D-7C12ADBAE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371" y="1291591"/>
            <a:ext cx="6457950" cy="41697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x-none" dirty="0"/>
          </a:p>
          <a:p>
            <a:pPr marL="0" indent="0">
              <a:buNone/>
            </a:pPr>
            <a:r>
              <a:rPr lang="x-none" dirty="0"/>
              <a:t>F</a:t>
            </a:r>
            <a:r>
              <a:rPr lang="en-US" dirty="0"/>
              <a:t>eel</a:t>
            </a:r>
            <a:r>
              <a:rPr lang="x-none" dirty="0"/>
              <a:t> </a:t>
            </a:r>
            <a:r>
              <a:rPr lang="en-US" dirty="0"/>
              <a:t>free</a:t>
            </a:r>
            <a:r>
              <a:rPr lang="x-none" dirty="0"/>
              <a:t> to write us your questions and </a:t>
            </a:r>
          </a:p>
          <a:p>
            <a:pPr marL="0" indent="0">
              <a:buNone/>
            </a:pPr>
            <a:r>
              <a:rPr lang="x-none" dirty="0"/>
              <a:t>Lets conect by LikedIn!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Mariluz</a:t>
            </a:r>
            <a:r>
              <a:rPr lang="en-US" dirty="0"/>
              <a:t> Lopez Zamora</a:t>
            </a:r>
          </a:p>
          <a:p>
            <a:pPr marL="0" indent="0" fontAlgn="base">
              <a:buNone/>
            </a:pPr>
            <a:r>
              <a:rPr lang="en-US" sz="21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www.linkedin.com</a:t>
            </a:r>
            <a:r>
              <a:rPr lang="en-US" sz="21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/in/</a:t>
            </a:r>
            <a:r>
              <a:rPr lang="en-US" sz="21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mlopezza</a:t>
            </a:r>
            <a:endParaRPr lang="en-US" sz="21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 fontAlgn="base">
              <a:buNone/>
            </a:pPr>
            <a:r>
              <a:rPr lang="en-US" dirty="0"/>
              <a:t>Joshua Okojie</a:t>
            </a:r>
          </a:p>
          <a:p>
            <a:pPr marL="0" indent="0" fontAlgn="base">
              <a:buNone/>
            </a:pPr>
            <a:r>
              <a:rPr lang="en-US" sz="21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www.linkedin.com/in/abayomiokojie/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6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487</Words>
  <Application>Microsoft Macintosh PowerPoint</Application>
  <PresentationFormat>Widescreen</PresentationFormat>
  <Paragraphs>89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Lato</vt:lpstr>
      <vt:lpstr>Office Theme</vt:lpstr>
      <vt:lpstr>Stroke Risk Stratification: Identifying Vulnerable Individuals Through Data Visualization</vt:lpstr>
      <vt:lpstr>Objectives:</vt:lpstr>
      <vt:lpstr>Problems with the Data:</vt:lpstr>
      <vt:lpstr>Feature Selection:</vt:lpstr>
      <vt:lpstr>Model</vt:lpstr>
      <vt:lpstr>Team Specific Recomendations</vt:lpstr>
      <vt:lpstr>Key Data Insights:</vt:lpstr>
      <vt:lpstr>Conclusion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 Risk Stratification: Identifying Vulnerable Individuals Through Data Visualization</dc:title>
  <dc:creator>jenniffer carolina Triana Martinez</dc:creator>
  <cp:lastModifiedBy>jenniffer carolina Triana Martinez</cp:lastModifiedBy>
  <cp:revision>15</cp:revision>
  <dcterms:created xsi:type="dcterms:W3CDTF">2025-11-15T00:00:52Z</dcterms:created>
  <dcterms:modified xsi:type="dcterms:W3CDTF">2025-11-15T04:38:37Z</dcterms:modified>
</cp:coreProperties>
</file>